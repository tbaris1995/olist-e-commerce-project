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60" r:id="rId4"/>
    <p:sldId id="272" r:id="rId5"/>
    <p:sldId id="275" r:id="rId6"/>
    <p:sldId id="261" r:id="rId7"/>
    <p:sldId id="273" r:id="rId8"/>
    <p:sldId id="274" r:id="rId9"/>
    <p:sldId id="267" r:id="rId10"/>
    <p:sldId id="268" r:id="rId11"/>
    <p:sldId id="269" r:id="rId12"/>
    <p:sldId id="270" r:id="rId13"/>
    <p:sldId id="271" r:id="rId14"/>
    <p:sldId id="257" r:id="rId15"/>
    <p:sldId id="258" r:id="rId16"/>
    <p:sldId id="262" r:id="rId17"/>
    <p:sldId id="26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-4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30E32F-822F-CB57-4527-67FD49A5A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BBCABFC-5A13-5FAF-89EE-047E597F1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20E5E9B-0223-8076-9789-F0CD5EA2D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97D-A341-4353-A5A0-DCA656356CAA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82C0DC1-8349-9687-7572-9F4EFB32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B306EE8-2C0E-1CB2-39F8-9F47AA27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C07A-61BF-483F-B715-4B73214D5B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3576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381BCF-C013-6C23-4C9A-F3743058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D016ACE-A344-C28A-C1CD-9EE4DB183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44B9F83-1159-EFDA-ED5A-F02998E7E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97D-A341-4353-A5A0-DCA656356CAA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EE1BF73-F3F8-FE0A-1DFA-813693807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1F7E64B-E0BA-0527-7C41-8B990A79A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C07A-61BF-483F-B715-4B73214D5B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1810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A62544-C27C-7341-9073-4A9093862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1C1C8B0-DF48-C891-5A98-2C29F0985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E90F9A7-4032-C5AE-98D7-D3669E03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97D-A341-4353-A5A0-DCA656356CAA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D3DD916-5948-F55C-2DC2-4D4A2742A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D37391D-B029-DD88-014B-091E956CD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C07A-61BF-483F-B715-4B73214D5B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5266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FF99D39-6E67-D5D9-198F-26D113D3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1376A9-F8B8-361D-4FD8-41261A4A1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B528209-14A1-FE47-7885-C2F59DA53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9657151-B5FD-1D35-824A-A3DEEEB6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97D-A341-4353-A5A0-DCA656356CAA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69A2241-ADA3-CF8D-4F43-C2AC2441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61AE6DD-AAC6-1083-B524-E6F540B64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C07A-61BF-483F-B715-4B73214D5B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5284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0F56AF-7760-5263-1ACC-93003C9EE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4AB4EB7-7637-1411-2328-63AAA58E8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2692507-2068-D4A6-7E4F-7826A2A75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31EC976B-827E-8415-94D3-A0F316C54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E7D167B-3BCF-9C41-CDC1-6BB04F0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30468F89-2F55-BA24-20A8-B93B6AE4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97D-A341-4353-A5A0-DCA656356CAA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936DCDAA-D4C6-3AEF-7C03-D95E9F92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A17D24E-0B08-EB33-564D-0747E2DD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C07A-61BF-483F-B715-4B73214D5B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62816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FFBABB9-66EA-F9EF-7EA3-40AE8F47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C24F890-56A3-AF1B-090E-11AC87E0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97D-A341-4353-A5A0-DCA656356CAA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AE6F7209-C2CD-F2E1-ACBA-5E7E8F5C7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DFD36C0-E855-D691-E16B-830ABA189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C07A-61BF-483F-B715-4B73214D5B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70390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9BC4FE8B-D5C1-B8DB-F698-AFDDC9C4C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97D-A341-4353-A5A0-DCA656356CAA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ECC9220-7C6F-6731-9BE4-0D9AB658F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173F681-0D97-AD1D-F642-475C9FB7F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C07A-61BF-483F-B715-4B73214D5B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12995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D38EDD7-05B9-5CC0-680D-5480C5327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BA6226-8D17-8102-EF1A-14141824A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166FF12-03AA-CACA-FD12-C73BAFCDE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4FAC9DD-6DFA-E741-C49A-312F76DC7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97D-A341-4353-A5A0-DCA656356CAA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2477662-FCB2-A900-4BD4-D0750716D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7EC2130-9582-2F26-8CB7-3A7846D98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C07A-61BF-483F-B715-4B73214D5B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988172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CA9E57-0DE5-B840-1554-6760E465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397062B-859A-8221-BBA3-9F8859E9BF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94C9D1A-B4D7-C65D-1D74-A484A89F6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FA3A0DA-CBC7-476A-9803-4D316A2A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97D-A341-4353-A5A0-DCA656356CAA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0CB994D-A80B-2E08-717A-C1C785EE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23C2DAE-E5EB-722C-0E31-C0063B86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C07A-61BF-483F-B715-4B73214D5B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3123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7F3790C-DBEA-2042-0E63-DBD380C65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DADBF5F-FBD6-76B3-B148-E9547AA05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EFE959D-DB23-6D36-F43D-9AFD758B6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97D-A341-4353-A5A0-DCA656356CAA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B45890F-BAF4-376D-5D84-99BEDF19D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5D4D7A0-39E5-AB01-B6C0-81188688F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C07A-61BF-483F-B715-4B73214D5B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03894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2EB3FFB-14A3-5BB9-0337-89C564483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3204E28-597B-0F6B-9D77-292E8BC8D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899C2E8-2533-38FE-5D5D-1B47F682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B97D-A341-4353-A5A0-DCA656356CAA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4ABCE4C-CDD6-13E0-A08F-BB018B931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C86E7A7-1BCD-C12B-AAF0-7A6860779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FC07A-61BF-483F-B715-4B73214D5B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961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8EF00E68-70A8-9136-B12F-0EFE92CA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CD158D6-8FDA-1C1A-C16B-39450F13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9B5D115-6B2F-0720-1351-2BDF386B6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DB97D-A341-4353-A5A0-DCA656356CAA}" type="datetimeFigureOut">
              <a:rPr lang="tr-TR" smtClean="0"/>
              <a:t>1.11.2025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5D48833-2D1E-B1EF-1B42-C950D96EB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3DE0716-7BF0-901C-D3DB-8B0672E8E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FC07A-61BF-483F-B715-4B73214D5B8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99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Olist E‑Ticaret Veri Analizi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Veri Temizleme Süreci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800"/>
            </a:pPr>
            <a:r>
              <a:t>• Eksik veya hatalı değerler kontrol edildi.</a:t>
            </a:r>
          </a:p>
          <a:p>
            <a:pPr>
              <a:spcAft>
                <a:spcPts val="1000"/>
              </a:spcAft>
              <a:defRPr sz="1800"/>
            </a:pPr>
            <a:r>
              <a:t>• Tekrarlayan kayıtlar belirlendi ve filtrelendi.</a:t>
            </a:r>
          </a:p>
          <a:p>
            <a:pPr>
              <a:spcAft>
                <a:spcPts val="1000"/>
              </a:spcAft>
              <a:defRPr sz="1800"/>
            </a:pPr>
            <a:r>
              <a:t>• Metin alanları (şehir, eyalet) standartlaştırıldı.</a:t>
            </a:r>
          </a:p>
          <a:p>
            <a:pPr>
              <a:spcAft>
                <a:spcPts val="1000"/>
              </a:spcAft>
              <a:defRPr sz="1800"/>
            </a:pPr>
            <a:r>
              <a:t>• Tarih formatları normalize edildi.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13" descr="metin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83ABF32-EE9E-918B-23D8-CB1C478502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01"/>
          <a:stretch>
            <a:fillRect/>
          </a:stretch>
        </p:blipFill>
        <p:spPr>
          <a:xfrm>
            <a:off x="187493" y="485375"/>
            <a:ext cx="3942056" cy="4936146"/>
          </a:xfrm>
          <a:prstGeom prst="rect">
            <a:avLst/>
          </a:prstGeom>
        </p:spPr>
      </p:pic>
      <p:pic>
        <p:nvPicPr>
          <p:cNvPr id="2" name="Resim 1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AD7CDCE-4683-410C-7A08-729D2E193F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35" t="7997" r="623" b="63403"/>
          <a:stretch>
            <a:fillRect/>
          </a:stretch>
        </p:blipFill>
        <p:spPr>
          <a:xfrm>
            <a:off x="3050742" y="2458063"/>
            <a:ext cx="3042515" cy="1370017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8B533589-36A2-9C2C-1C63-786A9F0B3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739" y="2958032"/>
            <a:ext cx="2415797" cy="21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4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5455316-0582-1AE9-57AA-0E13233B6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0" y="267974"/>
            <a:ext cx="7406528" cy="3528173"/>
          </a:xfrm>
          <a:prstGeom prst="rect">
            <a:avLst/>
          </a:prstGeom>
        </p:spPr>
      </p:pic>
      <p:pic>
        <p:nvPicPr>
          <p:cNvPr id="3" name="İçerik Yer Tutucusu 6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8C6EFB6-814E-5FC5-4ED9-27D6A944B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39" y="4306529"/>
            <a:ext cx="8377521" cy="173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07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Temel KPI’lar ve Metrikler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Ortalama</a:t>
            </a:r>
            <a:r>
              <a:rPr dirty="0"/>
              <a:t> </a:t>
            </a:r>
            <a:r>
              <a:rPr dirty="0" err="1"/>
              <a:t>Sipariş</a:t>
            </a:r>
            <a:r>
              <a:rPr dirty="0"/>
              <a:t> </a:t>
            </a:r>
            <a:r>
              <a:rPr dirty="0" err="1"/>
              <a:t>Değeri</a:t>
            </a:r>
            <a:r>
              <a:rPr dirty="0"/>
              <a:t> (AOV)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Müşteri</a:t>
            </a:r>
            <a:r>
              <a:rPr dirty="0"/>
              <a:t> </a:t>
            </a:r>
            <a:r>
              <a:rPr dirty="0" err="1"/>
              <a:t>Yaşam</a:t>
            </a:r>
            <a:r>
              <a:rPr dirty="0"/>
              <a:t> Boyu </a:t>
            </a:r>
            <a:r>
              <a:rPr dirty="0" err="1"/>
              <a:t>Değeri</a:t>
            </a:r>
            <a:r>
              <a:rPr dirty="0"/>
              <a:t> (CLV)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Ortalama</a:t>
            </a:r>
            <a:r>
              <a:rPr dirty="0"/>
              <a:t> </a:t>
            </a:r>
            <a:r>
              <a:rPr lang="tr-TR" dirty="0"/>
              <a:t>Sipariş Aralığı ve Müşteri Yorumları (</a:t>
            </a:r>
            <a:r>
              <a:rPr lang="tr-TR" dirty="0" err="1"/>
              <a:t>Review</a:t>
            </a:r>
            <a:r>
              <a:rPr lang="tr-TR" dirty="0"/>
              <a:t>)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Bölgesel</a:t>
            </a:r>
            <a:r>
              <a:rPr dirty="0"/>
              <a:t> </a:t>
            </a:r>
            <a:r>
              <a:rPr dirty="0" err="1"/>
              <a:t>Gelir</a:t>
            </a:r>
            <a:r>
              <a:rPr dirty="0"/>
              <a:t> </a:t>
            </a:r>
            <a:r>
              <a:rPr dirty="0" err="1"/>
              <a:t>Dağılımı</a:t>
            </a:r>
            <a:endParaRPr lang="tr-TR" dirty="0"/>
          </a:p>
          <a:p>
            <a:pPr>
              <a:spcAft>
                <a:spcPts val="1000"/>
              </a:spcAft>
              <a:defRPr sz="1800"/>
            </a:pPr>
            <a:r>
              <a:rPr lang="tr-TR" sz="1800" dirty="0"/>
              <a:t> </a:t>
            </a:r>
            <a:r>
              <a:rPr lang="tr-TR" dirty="0"/>
              <a:t>• </a:t>
            </a:r>
            <a:r>
              <a:rPr lang="tr-TR" sz="1800" dirty="0"/>
              <a:t>Ortalama Teslim Süresi</a:t>
            </a:r>
          </a:p>
          <a:p>
            <a:pPr>
              <a:spcAft>
                <a:spcPts val="1000"/>
              </a:spcAft>
              <a:defRPr sz="1800"/>
            </a:pPr>
            <a:r>
              <a:rPr lang="tr-TR" dirty="0"/>
              <a:t>• </a:t>
            </a:r>
            <a:r>
              <a:rPr lang="tr-TR" sz="1800" dirty="0"/>
              <a:t>En fazla Satış Yapılan Ürün Kategorisi</a:t>
            </a: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yazı tipi, ekran görüntüsü,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8263FA6-C95A-F917-DDDB-CA95628DC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80" y="1140541"/>
            <a:ext cx="2340468" cy="620877"/>
          </a:xfrm>
          <a:prstGeom prst="rect">
            <a:avLst/>
          </a:prstGeom>
        </p:spPr>
      </p:pic>
      <p:pic>
        <p:nvPicPr>
          <p:cNvPr id="5" name="Resim 4" descr="metin, ekran görüntüsü, yazı tipi, sayı, numara içeren bir resim">
            <a:extLst>
              <a:ext uri="{FF2B5EF4-FFF2-40B4-BE49-F238E27FC236}">
                <a16:creationId xmlns:a16="http://schemas.microsoft.com/office/drawing/2014/main" id="{6CE42F21-15BE-ADFB-1743-C7408D876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97" y="2656508"/>
            <a:ext cx="8393206" cy="3060951"/>
          </a:xfrm>
          <a:prstGeom prst="rect">
            <a:avLst/>
          </a:prstGeom>
        </p:spPr>
      </p:pic>
      <p:pic>
        <p:nvPicPr>
          <p:cNvPr id="6" name="Resim 5" descr="metin, yazı tipi, ekran görüntüsü, çizgi içeren bir resim">
            <a:extLst>
              <a:ext uri="{FF2B5EF4-FFF2-40B4-BE49-F238E27FC236}">
                <a16:creationId xmlns:a16="http://schemas.microsoft.com/office/drawing/2014/main" id="{D5313ACB-B769-FDFD-B128-C7C075DE9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3406" y="1140541"/>
            <a:ext cx="2457188" cy="637198"/>
          </a:xfrm>
          <a:prstGeom prst="rect">
            <a:avLst/>
          </a:prstGeom>
        </p:spPr>
      </p:pic>
      <p:pic>
        <p:nvPicPr>
          <p:cNvPr id="7" name="Resim 6" descr="metin, yazı tipi, beyaz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8BA130-7FE7-2144-8247-E48F38BA5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741" y="1111724"/>
            <a:ext cx="2153753" cy="73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98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C8D8DC63-466E-437E-FEC8-8ABAE9BCDD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2934929" cy="2934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F3AA1204-75B2-0DE3-5349-1A863FF74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43" y="1882006"/>
            <a:ext cx="7146314" cy="366338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0C9D230-C159-D0BF-C57B-91AC22B9A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lang="tr-TR" sz="3600" dirty="0"/>
              <a:t>Ortalama Sipariş Aralığı ve Müşteri Yorumları (</a:t>
            </a:r>
            <a:r>
              <a:rPr lang="tr-TR" sz="3600" dirty="0" err="1"/>
              <a:t>Review</a:t>
            </a:r>
            <a:r>
              <a:rPr lang="tr-TR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7882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600" dirty="0"/>
              <a:t>En Yüksek Gelir Elde Edilen 10</a:t>
            </a:r>
            <a:br>
              <a:rPr lang="tr-TR" sz="3600" dirty="0"/>
            </a:br>
            <a:r>
              <a:rPr lang="tr-TR" sz="3600" dirty="0"/>
              <a:t> Müşteri</a:t>
            </a:r>
            <a:endParaRPr sz="3600" dirty="0"/>
          </a:p>
        </p:txBody>
      </p:sp>
      <p:pic>
        <p:nvPicPr>
          <p:cNvPr id="3" name="Picture 2" descr="top10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06013" y="5393317"/>
            <a:ext cx="609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i="1"/>
            </a:pPr>
            <a:r>
              <a:rPr dirty="0" err="1"/>
              <a:t>Gelirin</a:t>
            </a:r>
            <a:r>
              <a:rPr dirty="0"/>
              <a:t> </a:t>
            </a:r>
            <a:r>
              <a:rPr dirty="0" err="1"/>
              <a:t>büyük</a:t>
            </a:r>
            <a:r>
              <a:rPr dirty="0"/>
              <a:t> </a:t>
            </a:r>
            <a:r>
              <a:rPr dirty="0" err="1"/>
              <a:t>kısmı</a:t>
            </a:r>
            <a:r>
              <a:rPr dirty="0"/>
              <a:t> </a:t>
            </a:r>
            <a:r>
              <a:rPr dirty="0" err="1"/>
              <a:t>birkaç</a:t>
            </a:r>
            <a:r>
              <a:rPr dirty="0"/>
              <a:t> </a:t>
            </a:r>
            <a:r>
              <a:rPr dirty="0" err="1"/>
              <a:t>yüksek</a:t>
            </a:r>
            <a:r>
              <a:rPr dirty="0"/>
              <a:t> </a:t>
            </a:r>
            <a:r>
              <a:rPr dirty="0" err="1"/>
              <a:t>değerli</a:t>
            </a:r>
            <a:r>
              <a:rPr dirty="0"/>
              <a:t> </a:t>
            </a:r>
            <a:r>
              <a:rPr dirty="0" err="1"/>
              <a:t>müşteriden</a:t>
            </a:r>
            <a:r>
              <a:rPr dirty="0"/>
              <a:t> </a:t>
            </a:r>
            <a:r>
              <a:rPr dirty="0" err="1"/>
              <a:t>geliyor</a:t>
            </a:r>
            <a:r>
              <a:rPr dirty="0"/>
              <a:t>; </a:t>
            </a:r>
            <a:r>
              <a:rPr dirty="0" err="1"/>
              <a:t>müşteri</a:t>
            </a:r>
            <a:r>
              <a:rPr dirty="0"/>
              <a:t> </a:t>
            </a:r>
            <a:r>
              <a:rPr dirty="0" err="1"/>
              <a:t>sadakat</a:t>
            </a:r>
            <a:r>
              <a:rPr dirty="0"/>
              <a:t> </a:t>
            </a:r>
            <a:r>
              <a:rPr dirty="0" err="1"/>
              <a:t>programları</a:t>
            </a:r>
            <a:r>
              <a:rPr dirty="0"/>
              <a:t> </a:t>
            </a:r>
            <a:r>
              <a:rPr dirty="0" err="1"/>
              <a:t>bu</a:t>
            </a:r>
            <a:r>
              <a:rPr dirty="0"/>
              <a:t> </a:t>
            </a:r>
            <a:r>
              <a:rPr dirty="0" err="1"/>
              <a:t>gruba</a:t>
            </a:r>
            <a:r>
              <a:rPr dirty="0"/>
              <a:t> </a:t>
            </a:r>
            <a:r>
              <a:rPr dirty="0" err="1"/>
              <a:t>odaklanmalı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dirty="0"/>
              <a:t>Geliri En Yüksek On Bölge(Eyalet)</a:t>
            </a:r>
            <a:endParaRPr sz="4000" dirty="0"/>
          </a:p>
        </p:txBody>
      </p:sp>
      <p:pic>
        <p:nvPicPr>
          <p:cNvPr id="3" name="Picture 2" descr="revenue_by_state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DB030899-3DE7-A2D1-6215-FE84FDBDA38A}"/>
              </a:ext>
            </a:extLst>
          </p:cNvPr>
          <p:cNvSpPr txBox="1"/>
          <p:nvPr/>
        </p:nvSpPr>
        <p:spPr>
          <a:xfrm>
            <a:off x="1406013" y="5393317"/>
            <a:ext cx="609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i="1"/>
            </a:pPr>
            <a:r>
              <a:rPr dirty="0" err="1"/>
              <a:t>Gelirin</a:t>
            </a:r>
            <a:r>
              <a:rPr dirty="0"/>
              <a:t> </a:t>
            </a:r>
            <a:r>
              <a:rPr dirty="0" err="1"/>
              <a:t>büyük</a:t>
            </a:r>
            <a:r>
              <a:rPr dirty="0"/>
              <a:t> </a:t>
            </a:r>
            <a:r>
              <a:rPr dirty="0" err="1"/>
              <a:t>kısmı</a:t>
            </a:r>
            <a:r>
              <a:rPr dirty="0"/>
              <a:t> </a:t>
            </a:r>
            <a:r>
              <a:rPr dirty="0" err="1"/>
              <a:t>birkaç</a:t>
            </a:r>
            <a:r>
              <a:rPr dirty="0"/>
              <a:t> </a:t>
            </a:r>
            <a:r>
              <a:rPr dirty="0" err="1"/>
              <a:t>yüksek</a:t>
            </a:r>
            <a:r>
              <a:rPr dirty="0"/>
              <a:t> </a:t>
            </a:r>
            <a:r>
              <a:rPr dirty="0" err="1"/>
              <a:t>değerli</a:t>
            </a:r>
            <a:r>
              <a:rPr dirty="0"/>
              <a:t> </a:t>
            </a:r>
            <a:r>
              <a:rPr dirty="0" err="1"/>
              <a:t>müşteriden</a:t>
            </a:r>
            <a:r>
              <a:rPr dirty="0"/>
              <a:t> </a:t>
            </a:r>
            <a:r>
              <a:rPr dirty="0" err="1"/>
              <a:t>geliyor</a:t>
            </a:r>
            <a:r>
              <a:rPr dirty="0"/>
              <a:t>; </a:t>
            </a:r>
            <a:r>
              <a:rPr dirty="0" err="1"/>
              <a:t>müşteri</a:t>
            </a:r>
            <a:r>
              <a:rPr dirty="0"/>
              <a:t> </a:t>
            </a:r>
            <a:r>
              <a:rPr dirty="0" err="1"/>
              <a:t>sadakat</a:t>
            </a:r>
            <a:r>
              <a:rPr dirty="0"/>
              <a:t> </a:t>
            </a:r>
            <a:r>
              <a:rPr dirty="0" err="1"/>
              <a:t>programları</a:t>
            </a:r>
            <a:r>
              <a:rPr dirty="0"/>
              <a:t> </a:t>
            </a:r>
            <a:r>
              <a:rPr dirty="0" err="1"/>
              <a:t>bu</a:t>
            </a:r>
            <a:r>
              <a:rPr dirty="0"/>
              <a:t> </a:t>
            </a:r>
            <a:r>
              <a:rPr dirty="0" err="1"/>
              <a:t>gruba</a:t>
            </a:r>
            <a:r>
              <a:rPr dirty="0"/>
              <a:t> </a:t>
            </a:r>
            <a:r>
              <a:rPr dirty="0" err="1"/>
              <a:t>odaklanmalı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Müşteri Başına Toplam Harcama</a:t>
            </a:r>
            <a:endParaRPr dirty="0"/>
          </a:p>
        </p:txBody>
      </p:sp>
      <p:pic>
        <p:nvPicPr>
          <p:cNvPr id="3" name="Picture 2" descr="per_customer_spend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3961" y="5515897"/>
            <a:ext cx="84360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i="1"/>
            </a:pPr>
            <a:r>
              <a:rPr dirty="0" err="1"/>
              <a:t>Müşteri</a:t>
            </a:r>
            <a:r>
              <a:rPr dirty="0"/>
              <a:t> </a:t>
            </a:r>
            <a:r>
              <a:rPr dirty="0" err="1"/>
              <a:t>harcamaları</a:t>
            </a:r>
            <a:r>
              <a:rPr dirty="0"/>
              <a:t> </a:t>
            </a:r>
            <a:r>
              <a:rPr dirty="0" err="1"/>
              <a:t>dengesiz</a:t>
            </a:r>
            <a:r>
              <a:rPr dirty="0"/>
              <a:t> </a:t>
            </a:r>
            <a:r>
              <a:rPr dirty="0" err="1"/>
              <a:t>dağılmış</a:t>
            </a:r>
            <a:r>
              <a:rPr dirty="0"/>
              <a:t>; </a:t>
            </a:r>
            <a:r>
              <a:rPr dirty="0" err="1"/>
              <a:t>küçük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grup</a:t>
            </a:r>
            <a:r>
              <a:rPr lang="tr-TR" dirty="0"/>
              <a:t>(sadık müşteriler)</a:t>
            </a:r>
            <a:r>
              <a:rPr dirty="0"/>
              <a:t> </a:t>
            </a:r>
            <a:r>
              <a:rPr dirty="0" err="1"/>
              <a:t>toplam</a:t>
            </a:r>
            <a:r>
              <a:rPr dirty="0"/>
              <a:t> </a:t>
            </a:r>
            <a:r>
              <a:rPr dirty="0" err="1"/>
              <a:t>gelirin</a:t>
            </a:r>
            <a:r>
              <a:rPr dirty="0"/>
              <a:t> </a:t>
            </a:r>
            <a:r>
              <a:rPr dirty="0" err="1"/>
              <a:t>büyük</a:t>
            </a:r>
            <a:r>
              <a:rPr dirty="0"/>
              <a:t> </a:t>
            </a:r>
            <a:r>
              <a:rPr dirty="0" err="1"/>
              <a:t>kısmını</a:t>
            </a:r>
            <a:r>
              <a:rPr dirty="0"/>
              <a:t> </a:t>
            </a:r>
            <a:r>
              <a:rPr dirty="0" err="1"/>
              <a:t>oluşturuyor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Sipariş Trendi</a:t>
            </a:r>
            <a:endParaRPr dirty="0"/>
          </a:p>
        </p:txBody>
      </p:sp>
      <p:pic>
        <p:nvPicPr>
          <p:cNvPr id="3" name="Picture 2" descr="order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i="1"/>
            </a:pPr>
            <a:r>
              <a:t>Sipariş hacmi yıl sonu dönemlerinde artış gösteriyor; sezonluk talep planlaması önem kazanıyor.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Müşteri Segmentasyonu</a:t>
            </a:r>
            <a:endParaRPr dirty="0"/>
          </a:p>
        </p:txBody>
      </p:sp>
      <p:pic>
        <p:nvPicPr>
          <p:cNvPr id="3" name="Picture 2" descr="customer_se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4181" y="5721588"/>
            <a:ext cx="805261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i="1"/>
            </a:pPr>
            <a:r>
              <a:rPr lang="tr-TR" dirty="0"/>
              <a:t>“Sadık müşteriler toplam müşteri tabanının yalnızca </a:t>
            </a:r>
            <a:r>
              <a:rPr lang="tr-TR" b="1" dirty="0"/>
              <a:t>%2.6’sını</a:t>
            </a:r>
            <a:r>
              <a:rPr lang="tr-TR" dirty="0"/>
              <a:t> oluşturmasına rağmen, gelir katkıları orantısız derecede yüksek.”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5725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0E0B1DE-07D2-B3CB-2A90-9BAA10D83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927832"/>
            <a:ext cx="8244221" cy="367112"/>
          </a:xfrm>
        </p:spPr>
        <p:txBody>
          <a:bodyPr vert="horz" lIns="68580" tIns="34290" rIns="68580" bIns="34290" rtlCol="0" anchor="t">
            <a:noAutofit/>
          </a:bodyPr>
          <a:lstStyle/>
          <a:p>
            <a:r>
              <a:rPr lang="tr-TR" sz="1800" b="1" dirty="0" err="1">
                <a:solidFill>
                  <a:schemeClr val="accent1">
                    <a:lumMod val="75000"/>
                  </a:schemeClr>
                </a:solidFill>
              </a:rPr>
              <a:t>Customer</a:t>
            </a:r>
            <a:r>
              <a:rPr lang="tr-TR" sz="1800" b="1" dirty="0">
                <a:solidFill>
                  <a:schemeClr val="accent1">
                    <a:lumMod val="75000"/>
                  </a:schemeClr>
                </a:solidFill>
              </a:rPr>
              <a:t> &amp; Ürün İncelemesi</a:t>
            </a:r>
            <a:br>
              <a:rPr lang="tr-TR" sz="18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30" name="Picture 6" descr="metin, ekran görüntüsü, diyagram, renklili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BFA2240-F047-BE7A-0000-61D9F2A59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0454" y="1976816"/>
            <a:ext cx="3191092" cy="197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etin, ekran görüntüsü, yazı tipi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8AAE47E-057B-CBB5-8224-31E23081A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00894" y="1160801"/>
            <a:ext cx="4349622" cy="226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ikdörtgen 3">
            <a:extLst>
              <a:ext uri="{FF2B5EF4-FFF2-40B4-BE49-F238E27FC236}">
                <a16:creationId xmlns:a16="http://schemas.microsoft.com/office/drawing/2014/main" id="{DD77BE25-3333-A565-2E27-3D73F8EDF28B}"/>
              </a:ext>
            </a:extLst>
          </p:cNvPr>
          <p:cNvSpPr/>
          <p:nvPr/>
        </p:nvSpPr>
        <p:spPr>
          <a:xfrm>
            <a:off x="0" y="5300652"/>
            <a:ext cx="8976796" cy="555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4313" indent="-214313" defTabSz="685800">
              <a:buFont typeface="Wingdings" panose="05000000000000000000" pitchFamily="2" charset="2"/>
              <a:buChar char="è"/>
            </a:pPr>
            <a:r>
              <a:rPr lang="tr-TR" sz="1050" b="1" dirty="0">
                <a:solidFill>
                  <a:prstClr val="white"/>
                </a:solidFill>
                <a:latin typeface="Aptos" panose="02110004020202020204"/>
              </a:rPr>
              <a:t>(1617b1357756262bfa56ab541c47bc16) müşteri13.440 Euro harcama yapmıştır</a:t>
            </a:r>
          </a:p>
          <a:p>
            <a:pPr marL="214313" indent="-214313" defTabSz="685800">
              <a:buFont typeface="Wingdings" panose="05000000000000000000" pitchFamily="2" charset="2"/>
              <a:buChar char="è"/>
            </a:pPr>
            <a:r>
              <a:rPr lang="tr-TR" sz="1050" b="1" dirty="0" err="1">
                <a:solidFill>
                  <a:prstClr val="white"/>
                </a:solidFill>
                <a:latin typeface="Aptos" panose="02110004020202020204"/>
              </a:rPr>
              <a:t>cama_mesa_banho</a:t>
            </a:r>
            <a:r>
              <a:rPr lang="tr-TR" sz="1050" b="1" dirty="0">
                <a:solidFill>
                  <a:prstClr val="white"/>
                </a:solidFill>
                <a:latin typeface="Aptos" panose="02110004020202020204"/>
              </a:rPr>
              <a:t> ürünü 3029 satış adeti ile en fazla satılan ürün olmuştur.</a:t>
            </a:r>
          </a:p>
          <a:p>
            <a:pPr marL="214313" indent="-214313" defTabSz="685800">
              <a:buFont typeface="Wingdings" panose="05000000000000000000" pitchFamily="2" charset="2"/>
              <a:buChar char="è"/>
            </a:pPr>
            <a:r>
              <a:rPr lang="tr-TR" sz="1050" b="1" dirty="0" err="1">
                <a:solidFill>
                  <a:prstClr val="white"/>
                </a:solidFill>
                <a:latin typeface="Aptos" panose="02110004020202020204"/>
              </a:rPr>
              <a:t>Lifetime_Value</a:t>
            </a:r>
            <a:r>
              <a:rPr lang="tr-TR" sz="1050" b="1" dirty="0">
                <a:solidFill>
                  <a:prstClr val="white"/>
                </a:solidFill>
                <a:latin typeface="Aptos" panose="02110004020202020204"/>
              </a:rPr>
              <a:t> en yüksek müşteri (c6e2731c5b391845f6800c97401a43a9) </a:t>
            </a:r>
            <a:r>
              <a:rPr lang="tr-TR" sz="1050" b="1" dirty="0" err="1">
                <a:solidFill>
                  <a:prstClr val="white"/>
                </a:solidFill>
                <a:latin typeface="Aptos" panose="02110004020202020204"/>
              </a:rPr>
              <a:t>id’li</a:t>
            </a:r>
            <a:r>
              <a:rPr lang="tr-TR" sz="1050" b="1" dirty="0">
                <a:solidFill>
                  <a:prstClr val="white"/>
                </a:solidFill>
                <a:latin typeface="Aptos" panose="02110004020202020204"/>
              </a:rPr>
              <a:t> müşteri olup, </a:t>
            </a:r>
            <a:r>
              <a:rPr lang="tr-TR" sz="1050" b="1" dirty="0" err="1">
                <a:solidFill>
                  <a:prstClr val="white"/>
                </a:solidFill>
                <a:latin typeface="Aptos" panose="02110004020202020204"/>
              </a:rPr>
              <a:t>Lifetime</a:t>
            </a:r>
            <a:r>
              <a:rPr lang="tr-TR" sz="1050" b="1" dirty="0">
                <a:solidFill>
                  <a:prstClr val="white"/>
                </a:solidFill>
                <a:latin typeface="Aptos" panose="02110004020202020204"/>
              </a:rPr>
              <a:t> Value </a:t>
            </a:r>
            <a:r>
              <a:rPr lang="tr-TR" sz="1050" b="1" dirty="0" err="1">
                <a:solidFill>
                  <a:prstClr val="white"/>
                </a:solidFill>
                <a:latin typeface="Aptos" panose="02110004020202020204"/>
              </a:rPr>
              <a:t>ortalması</a:t>
            </a:r>
            <a:r>
              <a:rPr lang="tr-TR" sz="1050" b="1" dirty="0">
                <a:solidFill>
                  <a:prstClr val="white"/>
                </a:solidFill>
                <a:latin typeface="Aptos" panose="02110004020202020204"/>
              </a:rPr>
              <a:t> müşteri bazlı 126 gündür.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FDFA3013-74F2-4010-04A7-F9401CBD7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8133"/>
            <a:ext cx="4274464" cy="1718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338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AA57DAE-6A55-BF6B-3879-AF60FC1DE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19" y="857251"/>
            <a:ext cx="9059681" cy="404735"/>
          </a:xfrm>
        </p:spPr>
        <p:txBody>
          <a:bodyPr>
            <a:normAutofit fontScale="90000"/>
          </a:bodyPr>
          <a:lstStyle/>
          <a:p>
            <a:r>
              <a:rPr lang="tr-TR" sz="1800" b="1" dirty="0">
                <a:solidFill>
                  <a:schemeClr val="accent1">
                    <a:lumMod val="75000"/>
                  </a:schemeClr>
                </a:solidFill>
              </a:rPr>
              <a:t>Satıcı</a:t>
            </a:r>
            <a:r>
              <a:rPr lang="tr-TR" dirty="0"/>
              <a:t> </a:t>
            </a:r>
            <a:r>
              <a:rPr lang="tr-TR" sz="1800" b="1" dirty="0">
                <a:solidFill>
                  <a:schemeClr val="accent1">
                    <a:lumMod val="75000"/>
                  </a:schemeClr>
                </a:solidFill>
              </a:rPr>
              <a:t>&amp; Teslimat Analizi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7B48BB9-3523-F7A0-17CE-51971BC2F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48967"/>
            <a:ext cx="4024859" cy="19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C54C805-4F3C-89A4-89CA-D9694C4DC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942" y="1248967"/>
            <a:ext cx="2970975" cy="183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49B43ECF-D815-1692-5163-3364BA21749A}"/>
              </a:ext>
            </a:extLst>
          </p:cNvPr>
          <p:cNvGraphicFramePr>
            <a:graphicFrameLocks noGrp="1"/>
          </p:cNvGraphicFramePr>
          <p:nvPr/>
        </p:nvGraphicFramePr>
        <p:xfrm>
          <a:off x="5649005" y="3111898"/>
          <a:ext cx="2420912" cy="1759788"/>
        </p:xfrm>
        <a:graphic>
          <a:graphicData uri="http://schemas.openxmlformats.org/drawingml/2006/table">
            <a:tbl>
              <a:tblPr/>
              <a:tblGrid>
                <a:gridCol w="1210456">
                  <a:extLst>
                    <a:ext uri="{9D8B030D-6E8A-4147-A177-3AD203B41FA5}">
                      <a16:colId xmlns:a16="http://schemas.microsoft.com/office/drawing/2014/main" val="1312970089"/>
                    </a:ext>
                  </a:extLst>
                </a:gridCol>
                <a:gridCol w="1210456">
                  <a:extLst>
                    <a:ext uri="{9D8B030D-6E8A-4147-A177-3AD203B41FA5}">
                      <a16:colId xmlns:a16="http://schemas.microsoft.com/office/drawing/2014/main" val="3018359109"/>
                    </a:ext>
                  </a:extLst>
                </a:gridCol>
              </a:tblGrid>
              <a:tr h="1879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 dirty="0" err="1">
                          <a:solidFill>
                            <a:schemeClr val="tx1"/>
                          </a:solidFill>
                          <a:effectLst/>
                        </a:rPr>
                        <a:t>order_status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tr-TR" sz="1100" dirty="0" err="1">
                          <a:solidFill>
                            <a:schemeClr val="tx1"/>
                          </a:solidFill>
                          <a:effectLst/>
                        </a:rPr>
                        <a:t>status_count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441324"/>
                  </a:ext>
                </a:extLst>
              </a:tr>
              <a:tr h="1879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 dirty="0" err="1">
                          <a:solidFill>
                            <a:schemeClr val="tx1"/>
                          </a:solidFill>
                          <a:effectLst/>
                        </a:rPr>
                        <a:t>delivered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tr-TR" sz="1100" dirty="0">
                          <a:solidFill>
                            <a:schemeClr val="tx1"/>
                          </a:solidFill>
                          <a:effectLst/>
                        </a:rPr>
                        <a:t>96478</a:t>
                      </a: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471893"/>
                  </a:ext>
                </a:extLst>
              </a:tr>
              <a:tr h="1879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 dirty="0" err="1">
                          <a:solidFill>
                            <a:schemeClr val="tx1"/>
                          </a:solidFill>
                          <a:effectLst/>
                        </a:rPr>
                        <a:t>shipped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tr-TR" sz="1100" dirty="0">
                          <a:solidFill>
                            <a:schemeClr val="tx1"/>
                          </a:solidFill>
                          <a:effectLst/>
                        </a:rPr>
                        <a:t>1107</a:t>
                      </a: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533883"/>
                  </a:ext>
                </a:extLst>
              </a:tr>
              <a:tr h="1879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 dirty="0" err="1">
                          <a:solidFill>
                            <a:schemeClr val="tx1"/>
                          </a:solidFill>
                          <a:effectLst/>
                        </a:rPr>
                        <a:t>canceled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tr-TR" sz="1100" dirty="0">
                          <a:solidFill>
                            <a:schemeClr val="tx1"/>
                          </a:solidFill>
                          <a:effectLst/>
                        </a:rPr>
                        <a:t>625</a:t>
                      </a: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253516"/>
                  </a:ext>
                </a:extLst>
              </a:tr>
              <a:tr h="1879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 dirty="0" err="1">
                          <a:solidFill>
                            <a:schemeClr val="tx1"/>
                          </a:solidFill>
                          <a:effectLst/>
                        </a:rPr>
                        <a:t>unavailable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tr-TR" sz="1100">
                          <a:solidFill>
                            <a:schemeClr val="tx1"/>
                          </a:solidFill>
                          <a:effectLst/>
                        </a:rPr>
                        <a:t>609</a:t>
                      </a: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113168"/>
                  </a:ext>
                </a:extLst>
              </a:tr>
              <a:tr h="1879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 dirty="0" err="1">
                          <a:solidFill>
                            <a:schemeClr val="tx1"/>
                          </a:solidFill>
                          <a:effectLst/>
                        </a:rPr>
                        <a:t>invoiced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tr-TR" sz="1100" dirty="0">
                          <a:solidFill>
                            <a:schemeClr val="tx1"/>
                          </a:solidFill>
                          <a:effectLst/>
                        </a:rPr>
                        <a:t>314</a:t>
                      </a: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839888"/>
                  </a:ext>
                </a:extLst>
              </a:tr>
              <a:tr h="1879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solidFill>
                            <a:schemeClr val="tx1"/>
                          </a:solidFill>
                          <a:effectLst/>
                        </a:rPr>
                        <a:t>processing</a:t>
                      </a: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tr-TR" sz="1100" dirty="0">
                          <a:solidFill>
                            <a:schemeClr val="tx1"/>
                          </a:solidFill>
                          <a:effectLst/>
                        </a:rPr>
                        <a:t>301</a:t>
                      </a: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593829"/>
                  </a:ext>
                </a:extLst>
              </a:tr>
              <a:tr h="1879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solidFill>
                            <a:schemeClr val="tx1"/>
                          </a:solidFill>
                          <a:effectLst/>
                        </a:rPr>
                        <a:t>created</a:t>
                      </a: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tr-TR" sz="11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396609"/>
                  </a:ext>
                </a:extLst>
              </a:tr>
              <a:tr h="1879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solidFill>
                            <a:schemeClr val="tx1"/>
                          </a:solidFill>
                          <a:effectLst/>
                        </a:rPr>
                        <a:t>approved</a:t>
                      </a: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tr-TR" sz="1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20920" marR="20920" marT="13946" marB="139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896777"/>
                  </a:ext>
                </a:extLst>
              </a:tr>
            </a:tbl>
          </a:graphicData>
        </a:graphic>
      </p:graphicFrame>
      <p:pic>
        <p:nvPicPr>
          <p:cNvPr id="2056" name="Picture 8">
            <a:extLst>
              <a:ext uri="{FF2B5EF4-FFF2-40B4-BE49-F238E27FC236}">
                <a16:creationId xmlns:a16="http://schemas.microsoft.com/office/drawing/2014/main" id="{6E99E501-74AE-AAA2-C4DC-2FDB8012B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066929"/>
            <a:ext cx="4768574" cy="19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Dikdörtgen 8">
            <a:extLst>
              <a:ext uri="{FF2B5EF4-FFF2-40B4-BE49-F238E27FC236}">
                <a16:creationId xmlns:a16="http://schemas.microsoft.com/office/drawing/2014/main" id="{1C239EE0-DD34-F541-017B-DE3266938563}"/>
              </a:ext>
            </a:extLst>
          </p:cNvPr>
          <p:cNvSpPr/>
          <p:nvPr/>
        </p:nvSpPr>
        <p:spPr>
          <a:xfrm>
            <a:off x="0" y="5018025"/>
            <a:ext cx="8976796" cy="838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4313" indent="-214313" defTabSz="685800">
              <a:buFont typeface="Wingdings" panose="05000000000000000000" pitchFamily="2" charset="2"/>
              <a:buChar char="è"/>
            </a:pPr>
            <a:r>
              <a:rPr lang="tr-TR" sz="1050" b="1" dirty="0">
                <a:solidFill>
                  <a:prstClr val="white"/>
                </a:solidFill>
                <a:latin typeface="Aptos" panose="02110004020202020204"/>
              </a:rPr>
              <a:t>Ortalama Teslim Süremiz 12,09 Gündür (df683dfda87bf71ac3fc63063fba369d) </a:t>
            </a:r>
            <a:r>
              <a:rPr lang="tr-TR" sz="1050" b="1" dirty="0" err="1">
                <a:solidFill>
                  <a:prstClr val="white"/>
                </a:solidFill>
                <a:latin typeface="Aptos" panose="02110004020202020204"/>
              </a:rPr>
              <a:t>id’li</a:t>
            </a:r>
            <a:r>
              <a:rPr lang="tr-TR" sz="1050" b="1" dirty="0">
                <a:solidFill>
                  <a:prstClr val="white"/>
                </a:solidFill>
                <a:latin typeface="Aptos" panose="02110004020202020204"/>
              </a:rPr>
              <a:t> satıcı  ortalama189 gün teslim süresi ile teslim süresi en uzun satıcıdır.</a:t>
            </a:r>
          </a:p>
          <a:p>
            <a:pPr marL="214313" indent="-214313" defTabSz="685800">
              <a:buFont typeface="Wingdings" panose="05000000000000000000" pitchFamily="2" charset="2"/>
              <a:buChar char="è"/>
            </a:pPr>
            <a:r>
              <a:rPr lang="tr-TR" sz="1050" b="1" dirty="0">
                <a:solidFill>
                  <a:prstClr val="white"/>
                </a:solidFill>
                <a:latin typeface="Aptos" panose="02110004020202020204"/>
              </a:rPr>
              <a:t>96478 adet sipariş teslim edilmiştir, 625 adet sipariş iptal edilmiştir.</a:t>
            </a:r>
          </a:p>
          <a:p>
            <a:pPr marL="214313" indent="-214313" defTabSz="685800">
              <a:buFont typeface="Wingdings" panose="05000000000000000000" pitchFamily="2" charset="2"/>
              <a:buChar char="è"/>
            </a:pPr>
            <a:r>
              <a:rPr lang="tr-TR" sz="1050" b="1" dirty="0">
                <a:solidFill>
                  <a:prstClr val="white"/>
                </a:solidFill>
                <a:latin typeface="Aptos" panose="02110004020202020204"/>
              </a:rPr>
              <a:t>Bölgesel olarak satış miktarlarında SP , 5,998,226.96 </a:t>
            </a:r>
            <a:r>
              <a:rPr lang="tr-TR" sz="1050" b="1" dirty="0" err="1">
                <a:solidFill>
                  <a:prstClr val="white"/>
                </a:solidFill>
                <a:latin typeface="Aptos" panose="02110004020202020204"/>
              </a:rPr>
              <a:t>Euro’lık</a:t>
            </a:r>
            <a:r>
              <a:rPr lang="tr-TR" sz="1050" b="1" dirty="0">
                <a:solidFill>
                  <a:prstClr val="white"/>
                </a:solidFill>
                <a:latin typeface="Aptos" panose="02110004020202020204"/>
              </a:rPr>
              <a:t> sipariş ile en fazla satış yapılan bölgedir.</a:t>
            </a:r>
          </a:p>
          <a:p>
            <a:pPr marL="214313" indent="-214313" defTabSz="685800">
              <a:buFont typeface="Wingdings" panose="05000000000000000000" pitchFamily="2" charset="2"/>
              <a:buChar char="è"/>
            </a:pPr>
            <a:endParaRPr lang="tr-TR" sz="1050" b="1" dirty="0">
              <a:solidFill>
                <a:prstClr val="white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312383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 b="1"/>
            </a:pPr>
            <a:r>
              <a:rPr dirty="0"/>
              <a:t>Analiz </a:t>
            </a:r>
            <a:r>
              <a:rPr dirty="0" err="1"/>
              <a:t>Sonuçları</a:t>
            </a:r>
            <a:r>
              <a:rPr dirty="0"/>
              <a:t> –</a:t>
            </a:r>
            <a:r>
              <a:rPr lang="tr-TR" dirty="0"/>
              <a:t> İç Görüler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400" b="1" dirty="0"/>
              <a:t>Müşteri Davranışları ile İlgili İç Görüler</a:t>
            </a:r>
            <a:endParaRPr sz="1400" b="1" dirty="0"/>
          </a:p>
          <a:p>
            <a:pPr>
              <a:spcAft>
                <a:spcPts val="1000"/>
              </a:spcAft>
              <a:defRPr sz="1800"/>
            </a:pPr>
            <a:r>
              <a:rPr sz="1200" dirty="0"/>
              <a:t>• </a:t>
            </a:r>
            <a:r>
              <a:rPr sz="1200" dirty="0" err="1"/>
              <a:t>Tekrar</a:t>
            </a:r>
            <a:r>
              <a:rPr sz="1200" dirty="0"/>
              <a:t> </a:t>
            </a:r>
            <a:r>
              <a:rPr sz="1200" dirty="0" err="1"/>
              <a:t>satın</a:t>
            </a:r>
            <a:r>
              <a:rPr sz="1200" dirty="0"/>
              <a:t> alma </a:t>
            </a:r>
            <a:r>
              <a:rPr sz="1200" dirty="0" err="1"/>
              <a:t>oranı</a:t>
            </a:r>
            <a:r>
              <a:rPr sz="1200" dirty="0"/>
              <a:t> %18 </a:t>
            </a:r>
            <a:r>
              <a:rPr sz="1200" dirty="0" err="1"/>
              <a:t>civarındadır</a:t>
            </a:r>
            <a:r>
              <a:rPr sz="1200" dirty="0"/>
              <a:t>.</a:t>
            </a:r>
          </a:p>
          <a:p>
            <a:pPr>
              <a:spcAft>
                <a:spcPts val="1000"/>
              </a:spcAft>
              <a:defRPr sz="1800"/>
            </a:pPr>
            <a:r>
              <a:rPr sz="1200" dirty="0"/>
              <a:t>• Yüksek CLV </a:t>
            </a:r>
            <a:r>
              <a:rPr sz="1200" dirty="0" err="1"/>
              <a:t>müşterileri</a:t>
            </a:r>
            <a:r>
              <a:rPr sz="1200" dirty="0"/>
              <a:t> </a:t>
            </a:r>
            <a:r>
              <a:rPr sz="1200" dirty="0" err="1"/>
              <a:t>genellikle</a:t>
            </a:r>
            <a:r>
              <a:rPr sz="1200" dirty="0"/>
              <a:t> </a:t>
            </a:r>
            <a:r>
              <a:rPr sz="1200" dirty="0" err="1"/>
              <a:t>büyük</a:t>
            </a:r>
            <a:r>
              <a:rPr sz="1200" dirty="0"/>
              <a:t> </a:t>
            </a:r>
            <a:r>
              <a:rPr sz="1200" dirty="0" err="1"/>
              <a:t>şehirlerde</a:t>
            </a:r>
            <a:r>
              <a:rPr sz="1200" dirty="0"/>
              <a:t> </a:t>
            </a:r>
            <a:r>
              <a:rPr sz="1200" dirty="0" err="1"/>
              <a:t>yoğunlaşmıştır</a:t>
            </a:r>
            <a:r>
              <a:rPr sz="1200" dirty="0"/>
              <a:t>.</a:t>
            </a:r>
          </a:p>
          <a:p>
            <a:pPr>
              <a:spcAft>
                <a:spcPts val="1000"/>
              </a:spcAft>
              <a:defRPr sz="1800"/>
            </a:pPr>
            <a:r>
              <a:rPr sz="1200" dirty="0"/>
              <a:t>• </a:t>
            </a:r>
            <a:r>
              <a:rPr sz="1200" dirty="0" err="1"/>
              <a:t>Sadık</a:t>
            </a:r>
            <a:r>
              <a:rPr sz="1200" dirty="0"/>
              <a:t> </a:t>
            </a:r>
            <a:r>
              <a:rPr sz="1200" dirty="0" err="1"/>
              <a:t>müşteriler</a:t>
            </a:r>
            <a:r>
              <a:rPr sz="1200" dirty="0"/>
              <a:t> </a:t>
            </a:r>
            <a:r>
              <a:rPr sz="1200" dirty="0" err="1"/>
              <a:t>toplam</a:t>
            </a:r>
            <a:r>
              <a:rPr sz="1200" dirty="0"/>
              <a:t> </a:t>
            </a:r>
            <a:r>
              <a:rPr sz="1200" dirty="0" err="1"/>
              <a:t>gelirin</a:t>
            </a:r>
            <a:r>
              <a:rPr sz="1200" dirty="0"/>
              <a:t> %40’ını </a:t>
            </a:r>
            <a:r>
              <a:rPr sz="1200" dirty="0" err="1"/>
              <a:t>oluşturur</a:t>
            </a:r>
            <a:r>
              <a:rPr sz="1200" dirty="0"/>
              <a:t>.</a:t>
            </a:r>
            <a:endParaRPr lang="tr-TR" sz="1200" dirty="0"/>
          </a:p>
          <a:p>
            <a:pPr>
              <a:spcAft>
                <a:spcPts val="1000"/>
              </a:spcAft>
              <a:defRPr sz="1800"/>
            </a:pPr>
            <a:r>
              <a:rPr lang="tr-TR" sz="1400" b="1" dirty="0"/>
              <a:t>Coğrafi ve Operasyonel İçgörüler</a:t>
            </a:r>
          </a:p>
          <a:p>
            <a:pPr>
              <a:spcAft>
                <a:spcPts val="1000"/>
              </a:spcAft>
              <a:defRPr sz="1800"/>
            </a:pPr>
            <a:r>
              <a:rPr lang="tr-TR" sz="1200" dirty="0"/>
              <a:t>•  SP, RJ bölgeleri(eyaletleri) en yüksek geliri üretmektedir.</a:t>
            </a:r>
          </a:p>
          <a:p>
            <a:pPr>
              <a:spcAft>
                <a:spcPts val="1000"/>
              </a:spcAft>
              <a:defRPr sz="1800"/>
            </a:pPr>
            <a:r>
              <a:rPr lang="tr-TR" sz="1200" dirty="0"/>
              <a:t>• Teslimat süreleri bazı bölgelerde ortalama 3 gün daha uzundur.</a:t>
            </a:r>
          </a:p>
          <a:p>
            <a:pPr>
              <a:spcAft>
                <a:spcPts val="1000"/>
              </a:spcAft>
              <a:defRPr sz="1800"/>
            </a:pPr>
            <a:r>
              <a:rPr lang="tr-TR" sz="1200" dirty="0"/>
              <a:t>• Lojistik verimlilik müşteri memnuniyetini doğrudan etkilemektedir.</a:t>
            </a:r>
          </a:p>
          <a:p>
            <a:pPr>
              <a:spcAft>
                <a:spcPts val="1000"/>
              </a:spcAft>
              <a:defRPr sz="1800"/>
            </a:pPr>
            <a:r>
              <a:rPr lang="tr-TR" sz="1400" b="1" dirty="0"/>
              <a:t>Sipariş ve Gelir ile İlgili İç Görüler</a:t>
            </a:r>
          </a:p>
          <a:p>
            <a:pPr>
              <a:spcAft>
                <a:spcPts val="1000"/>
              </a:spcAft>
              <a:defRPr sz="1800"/>
            </a:pPr>
            <a:r>
              <a:rPr lang="tr-TR" sz="1200" dirty="0"/>
              <a:t>Kar marjı en yüksek satışlar Güney Amerika bölgesinde gerçekleşmiştir.</a:t>
            </a:r>
          </a:p>
          <a:p>
            <a:pPr>
              <a:spcAft>
                <a:spcPts val="1000"/>
              </a:spcAft>
              <a:defRPr sz="1800"/>
            </a:pPr>
            <a:r>
              <a:rPr lang="tr-TR" sz="1200" dirty="0">
                <a:latin typeface="Aptos" panose="02110004020202020204"/>
              </a:rPr>
              <a:t>3029 satış adeti ile nevresim kategorisi en çok satış yapılan kategoridir.</a:t>
            </a:r>
          </a:p>
          <a:p>
            <a:pPr>
              <a:spcAft>
                <a:spcPts val="1000"/>
              </a:spcAft>
              <a:defRPr sz="1800"/>
            </a:pPr>
            <a:r>
              <a:rPr lang="tr-TR" sz="1200" dirty="0">
                <a:latin typeface="Aptos" panose="02110004020202020204"/>
              </a:rPr>
              <a:t>99441 siparişten 625 adedi iptal edilmiştir. </a:t>
            </a:r>
            <a:endParaRPr lang="tr-TR" sz="1200" dirty="0"/>
          </a:p>
          <a:p>
            <a:pPr>
              <a:spcAft>
                <a:spcPts val="1000"/>
              </a:spcAft>
              <a:defRPr sz="1800"/>
            </a:pPr>
            <a:endParaRPr lang="tr-TR" sz="1200" dirty="0"/>
          </a:p>
          <a:p>
            <a:pPr>
              <a:spcAft>
                <a:spcPts val="1000"/>
              </a:spcAft>
              <a:defRPr sz="1800"/>
            </a:pPr>
            <a:endParaRPr lang="tr-TR" sz="1200" dirty="0"/>
          </a:p>
          <a:p>
            <a:pPr>
              <a:spcAft>
                <a:spcPts val="1000"/>
              </a:spcAft>
              <a:defRPr sz="1800"/>
            </a:pPr>
            <a:endParaRPr lang="tr-TR" sz="2000" b="1" dirty="0"/>
          </a:p>
          <a:p>
            <a:pPr>
              <a:spcAft>
                <a:spcPts val="1000"/>
              </a:spcAft>
              <a:defRPr sz="1800"/>
            </a:pPr>
            <a:endParaRPr lang="tr-TR" sz="2000" b="1" dirty="0"/>
          </a:p>
          <a:p>
            <a:pPr>
              <a:spcAft>
                <a:spcPts val="1000"/>
              </a:spcAft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Sonuç ve Öneriler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Sadık</a:t>
            </a:r>
            <a:r>
              <a:rPr dirty="0"/>
              <a:t> </a:t>
            </a:r>
            <a:r>
              <a:rPr dirty="0" err="1"/>
              <a:t>müşterilere</a:t>
            </a:r>
            <a:r>
              <a:rPr dirty="0"/>
              <a:t> </a:t>
            </a:r>
            <a:r>
              <a:rPr dirty="0" err="1"/>
              <a:t>özel</a:t>
            </a:r>
            <a:r>
              <a:rPr dirty="0"/>
              <a:t> </a:t>
            </a:r>
            <a:r>
              <a:rPr dirty="0" err="1"/>
              <a:t>kampanyalar</a:t>
            </a:r>
            <a:r>
              <a:rPr dirty="0"/>
              <a:t> </a:t>
            </a:r>
            <a:r>
              <a:rPr dirty="0" err="1"/>
              <a:t>planlanmalıdır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lang="tr-TR" dirty="0"/>
              <a:t>Müşterilerin tekrar </a:t>
            </a:r>
            <a:r>
              <a:rPr lang="tr-TR" dirty="0" err="1"/>
              <a:t>satınalma</a:t>
            </a:r>
            <a:r>
              <a:rPr lang="tr-TR" dirty="0"/>
              <a:t> sürelerini kısaltmak için benzer kategorilerde aynı anda indirim yapılmalıdır.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Yüksek </a:t>
            </a:r>
            <a:r>
              <a:rPr dirty="0" err="1"/>
              <a:t>performanslı</a:t>
            </a:r>
            <a:r>
              <a:rPr dirty="0"/>
              <a:t> </a:t>
            </a:r>
            <a:r>
              <a:rPr dirty="0" err="1"/>
              <a:t>ürün</a:t>
            </a:r>
            <a:r>
              <a:rPr dirty="0"/>
              <a:t> </a:t>
            </a:r>
            <a:r>
              <a:rPr dirty="0" err="1"/>
              <a:t>kategorilerine</a:t>
            </a:r>
            <a:r>
              <a:rPr dirty="0"/>
              <a:t> </a:t>
            </a:r>
            <a:r>
              <a:rPr dirty="0" err="1"/>
              <a:t>odaklanarak</a:t>
            </a:r>
            <a:r>
              <a:rPr dirty="0"/>
              <a:t> </a:t>
            </a:r>
            <a:r>
              <a:rPr dirty="0" err="1"/>
              <a:t>gelir</a:t>
            </a:r>
            <a:r>
              <a:rPr dirty="0"/>
              <a:t> </a:t>
            </a:r>
            <a:r>
              <a:rPr dirty="0" err="1"/>
              <a:t>artırılabilir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Müşteri</a:t>
            </a:r>
            <a:r>
              <a:rPr dirty="0"/>
              <a:t> </a:t>
            </a:r>
            <a:r>
              <a:rPr dirty="0" err="1"/>
              <a:t>yorumları</a:t>
            </a:r>
            <a:r>
              <a:rPr dirty="0"/>
              <a:t> </a:t>
            </a:r>
            <a:r>
              <a:rPr lang="tr-TR" dirty="0"/>
              <a:t> genel olarak olumlu, kötü yorumlar </a:t>
            </a:r>
            <a:r>
              <a:rPr dirty="0" err="1"/>
              <a:t>düzenli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izlenmeli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kategori</a:t>
            </a:r>
            <a:r>
              <a:rPr dirty="0"/>
              <a:t> </a:t>
            </a:r>
            <a:r>
              <a:rPr dirty="0" err="1"/>
              <a:t>bazlı</a:t>
            </a:r>
            <a:r>
              <a:rPr dirty="0"/>
              <a:t> </a:t>
            </a:r>
            <a:r>
              <a:rPr dirty="0" err="1"/>
              <a:t>analiz</a:t>
            </a:r>
            <a:r>
              <a:rPr lang="tr-TR" dirty="0" err="1"/>
              <a:t>ler</a:t>
            </a:r>
            <a:r>
              <a:rPr lang="tr-TR" dirty="0"/>
              <a:t> yapılarak buralarda iyileştirmeler yapılmalı ve teslimat sürelerini iyileştirmek amacıyla bir takım iyileştirmeler yapılabilir.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499</Words>
  <Application>Microsoft Office PowerPoint</Application>
  <PresentationFormat>Ekran Gösterisi (4:3)</PresentationFormat>
  <Paragraphs>79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Wingdings</vt:lpstr>
      <vt:lpstr>Office Theme</vt:lpstr>
      <vt:lpstr>Office Teması</vt:lpstr>
      <vt:lpstr>Olist E‑Ticaret Veri Analizi</vt:lpstr>
      <vt:lpstr>Veri Temizleme Süreci</vt:lpstr>
      <vt:lpstr>PowerPoint Sunusu</vt:lpstr>
      <vt:lpstr>PowerPoint Sunusu</vt:lpstr>
      <vt:lpstr>Temel KPI’lar ve Metrikler</vt:lpstr>
      <vt:lpstr>PowerPoint Sunusu</vt:lpstr>
      <vt:lpstr>Ortalama Sipariş Aralığı ve Müşteri Yorumları (Review)</vt:lpstr>
      <vt:lpstr>En Yüksek Gelir Elde Edilen 10  Müşteri</vt:lpstr>
      <vt:lpstr>Geliri En Yüksek On Bölge(Eyalet)</vt:lpstr>
      <vt:lpstr>Müşteri Başına Toplam Harcama</vt:lpstr>
      <vt:lpstr>Sipariş Trendi</vt:lpstr>
      <vt:lpstr>Müşteri Segmentasyonu</vt:lpstr>
      <vt:lpstr>Customer &amp; Ürün İncelemesi </vt:lpstr>
      <vt:lpstr>Satıcı &amp; Teslimat Analizi</vt:lpstr>
      <vt:lpstr>Analiz Sonuçları – İç Görüler</vt:lpstr>
      <vt:lpstr>Sonuç ve Öneriler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Barış Tekin</cp:lastModifiedBy>
  <cp:revision>9</cp:revision>
  <dcterms:created xsi:type="dcterms:W3CDTF">2013-01-27T09:14:16Z</dcterms:created>
  <dcterms:modified xsi:type="dcterms:W3CDTF">2025-11-01T10:23:53Z</dcterms:modified>
  <cp:category/>
</cp:coreProperties>
</file>